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ora Semi Bold"/>
      <p:regular r:id="rId17"/>
    </p:embeddedFont>
    <p:embeddedFont>
      <p:font typeface="Sora Semi Bold"/>
      <p:regular r:id="rId18"/>
    </p:embeddedFont>
    <p:embeddedFont>
      <p:font typeface="Sora Light"/>
      <p:regular r:id="rId19"/>
    </p:embeddedFont>
    <p:embeddedFont>
      <p:font typeface="Sora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 ?><Relationships xmlns="http://schemas.openxmlformats.org/package/2006/relationships"><Relationship Id="rId1" Target="../media/image-3-1.jpeg" Type="http://schemas.openxmlformats.org/officeDocument/2006/relationships/image"/><Relationship Id="rId2" Target="../slideLayouts/slideLayout4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slideLayouts/slideLayout5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 ?><Relationships xmlns="http://schemas.openxmlformats.org/package/2006/relationships"><Relationship Id="rId1" Target="../media/image-6-1.jpeg" Type="http://schemas.openxmlformats.org/officeDocument/2006/relationships/image"/><Relationship Id="rId2" Target="../media/image-6-2.png" Type="http://schemas.openxmlformats.org/officeDocument/2006/relationships/image"/><Relationship Id="rId3" Target="../media/image-6-3.png" Type="http://schemas.openxmlformats.org/officeDocument/2006/relationships/image"/><Relationship Id="rId4" Target="../media/image-6-4.png" Type="http://schemas.openxmlformats.org/officeDocument/2006/relationships/image"/><Relationship Id="rId5" Target="../slideLayouts/slideLayout7.xml" Type="http://schemas.openxmlformats.org/officeDocument/2006/relationships/slideLayout"/><Relationship Id="rId6" Target="../notesSlides/notesSlide6.xml" Type="http://schemas.openxmlformats.org/officeDocument/2006/relationships/notesSlide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slideLayouts/slideLayout8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media/image-9-2.png" Type="http://schemas.openxmlformats.org/officeDocument/2006/relationships/image"/><Relationship Id="rId3" Target="../media/image-9-3.svg" Type="http://schemas.openxmlformats.org/officeDocument/2006/relationships/image"/><Relationship Id="rId4" Target="../media/image-9-4.png" Type="http://schemas.openxmlformats.org/officeDocument/2006/relationships/image"/><Relationship Id="rId5" Target="../media/image-9-5.svg" Type="http://schemas.openxmlformats.org/officeDocument/2006/relationships/image"/><Relationship Id="rId6" Target="../media/image-9-6.png" Type="http://schemas.openxmlformats.org/officeDocument/2006/relationships/image"/><Relationship Id="rId7" Target="../media/image-9-7.svg" Type="http://schemas.openxmlformats.org/officeDocument/2006/relationships/image"/><Relationship Id="rId8" Target="../slideLayouts/slideLayout10.xml" Type="http://schemas.openxmlformats.org/officeDocument/2006/relationships/slideLayout"/><Relationship Id="rId9" Target="../notesSlides/notesSlide9.xml" Type="http://schemas.openxmlformats.org/officeDocument/2006/relationships/notesSlide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slideLayouts/slideLayout1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422571"/>
            <a:ext cx="693384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UK Retail Sales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46020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 &amp; Product Intelligence from 1M+ Transactions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1240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258378"/>
            <a:ext cx="4226838" cy="2494478"/>
          </a:xfrm>
          <a:prstGeom prst="roundRect">
            <a:avLst>
              <a:gd name="adj" fmla="val 364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504" y="2482572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1217" y="2661285"/>
            <a:ext cx="292418" cy="2924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504" y="3349109"/>
            <a:ext cx="360521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Customer Segmentation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3835241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RFM Analysis to identify behavior patterns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201722" y="2258378"/>
            <a:ext cx="4226838" cy="2494478"/>
          </a:xfrm>
          <a:prstGeom prst="roundRect">
            <a:avLst>
              <a:gd name="adj" fmla="val 364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25916" y="2482572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4629" y="2661285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5916" y="33491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Lifetime Value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5916" y="3835241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Calculate and optimize Customer LTV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9645134" y="2258378"/>
            <a:ext cx="4226957" cy="2494478"/>
          </a:xfrm>
          <a:prstGeom prst="roundRect">
            <a:avLst>
              <a:gd name="adj" fmla="val 364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69329" y="2482572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8042" y="2661285"/>
            <a:ext cx="292418" cy="2924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9329" y="33491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Cohort Analysis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9329" y="3835241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retention and purchase behavior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58309" y="4969431"/>
            <a:ext cx="6448544" cy="2147768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2504" y="5193625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1217" y="5372338"/>
            <a:ext cx="292418" cy="2924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2504" y="6060162"/>
            <a:ext cx="312324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Product Performance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82504" y="6546294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Identify top performers and declining SKUs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423428" y="4969431"/>
            <a:ext cx="6448663" cy="2147768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47623" y="5193625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6335" y="5372338"/>
            <a:ext cx="292418" cy="2924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47623" y="606016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Price Sensitivity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47623" y="6546294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Understand segment-level preferences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32242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25766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Source &amp; Scale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44709" y="3149441"/>
            <a:ext cx="436495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Online Retail Dataset from Kaggle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4709" y="3691057"/>
            <a:ext cx="436495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1,068,498 transactions analyzed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4709" y="4113490"/>
            <a:ext cx="436495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 Excel files combined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44709" y="4535924"/>
            <a:ext cx="436495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UK-based e-commerce store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44709" y="50992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Fields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44709" y="5672018"/>
            <a:ext cx="436495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Invoice, StockCode, Description, Quantity, InvoiceDate, Price, Customer ID, Country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145917" y="2712006"/>
            <a:ext cx="2733675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1M+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11145917" y="3697605"/>
            <a:ext cx="27336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145917" y="4595336"/>
            <a:ext cx="2733675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11145917" y="5580936"/>
            <a:ext cx="273367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Files Combined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46732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Customer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504956"/>
            <a:ext cx="3705344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7829" y="2504956"/>
            <a:ext cx="121920" cy="202037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6" name="Text 3"/>
          <p:cNvSpPr/>
          <p:nvPr/>
        </p:nvSpPr>
        <p:spPr>
          <a:xfrm>
            <a:off x="1096804" y="27520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Top Customers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6804" y="3238143"/>
            <a:ext cx="31197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Highest LTV driven by consistent, high-value purchases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80228" y="2504956"/>
            <a:ext cx="3705463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49748" y="2504956"/>
            <a:ext cx="121920" cy="202037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0" name="Text 7"/>
          <p:cNvSpPr/>
          <p:nvPr/>
        </p:nvSpPr>
        <p:spPr>
          <a:xfrm>
            <a:off x="5018723" y="27520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At-Risk Segments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18723" y="3238143"/>
            <a:ext cx="311991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Recent &amp; Low-Spending customers show low retention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4741902"/>
            <a:ext cx="3705344" cy="2020372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30480">
            <a:solidFill>
              <a:srgbClr val="DFB8B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7829" y="4741902"/>
            <a:ext cx="121920" cy="2020372"/>
          </a:xfrm>
          <a:prstGeom prst="roundRect">
            <a:avLst>
              <a:gd name="adj" fmla="val 74638"/>
            </a:avLst>
          </a:prstGeom>
          <a:solidFill>
            <a:srgbClr val="DA1B2E"/>
          </a:solidFill>
          <a:ln/>
        </p:spPr>
      </p:sp>
      <p:sp>
        <p:nvSpPr>
          <p:cNvPr id="14" name="Text 11"/>
          <p:cNvSpPr/>
          <p:nvPr/>
        </p:nvSpPr>
        <p:spPr>
          <a:xfrm>
            <a:off x="1096804" y="498895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Action Required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96804" y="5475089"/>
            <a:ext cx="3119795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Implement retention strategies and upsell campaigns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85349"/>
            <a:ext cx="7627382" cy="427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0"/>
              </a:lnSpc>
              <a:buNone/>
            </a:pPr>
            <a:r>
              <a:rPr lang="en-US" sz="89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Retention drops after 2 months</a:t>
            </a:r>
            <a:endParaRPr lang="en-US" sz="8950" dirty="0"/>
          </a:p>
        </p:txBody>
      </p:sp>
      <p:sp>
        <p:nvSpPr>
          <p:cNvPr id="4" name="Text 1"/>
          <p:cNvSpPr/>
          <p:nvPr/>
        </p:nvSpPr>
        <p:spPr>
          <a:xfrm>
            <a:off x="6244709" y="548651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Critical insight from cohort analysis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6076950"/>
            <a:ext cx="7627382" cy="1267182"/>
          </a:xfrm>
          <a:prstGeom prst="roundRect">
            <a:avLst>
              <a:gd name="adj" fmla="val 7181"/>
            </a:avLst>
          </a:prstGeom>
          <a:solidFill>
            <a:srgbClr val="F7BBC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284" y="6401872"/>
            <a:ext cx="270748" cy="2165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48607" y="6347579"/>
            <a:ext cx="67069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Strategic Priority: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Improve post-purchase engagement to extend customer lifecycle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710464"/>
            <a:ext cx="981206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Product Performance Discoveries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9" y="4748093"/>
            <a:ext cx="4371261" cy="8665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4884" y="583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Volume vs Revenue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974884" y="6317337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Most sold product ≠ Top revenue product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570" y="4748093"/>
            <a:ext cx="4371261" cy="86653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6144" y="5831205"/>
            <a:ext cx="314205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Segment Preferences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46144" y="6317337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Distinct product preferences by customer segment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830" y="4748093"/>
            <a:ext cx="4371261" cy="86653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405" y="583120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Declining Trends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7405" y="6317337"/>
            <a:ext cx="393811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Identified slow-moving SKUs for review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825" y="544354"/>
            <a:ext cx="6685240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Price Sensitivity Analysis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92825" y="1690449"/>
            <a:ext cx="273831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Optimal Price Range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92825" y="2213967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DA1B2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£2–£10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is most preferred by customers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2825" y="2728555"/>
            <a:ext cx="260473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Strategic Actions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92825" y="3252073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Reevaluate slow-moving SKUs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2825" y="3637955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Tailor pricing strategy by segment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2825" y="4023836"/>
            <a:ext cx="6380917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 product mix in sweet spot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279" y="1715214"/>
            <a:ext cx="6380917" cy="6380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5063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Analytical Toolkit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3396615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2089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Python &amp; Pandas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695111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manipulation and analysis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396615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208978"/>
            <a:ext cx="310407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Seaborn &amp; Matplotlib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4695111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Advanced visualization libraries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3396615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42089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Jupyter Notebook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4695111"/>
            <a:ext cx="41907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Interactive exploration and documentation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58309" y="5632252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All code, visuals, and insights fully embedded in notebook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812369"/>
            <a:ext cx="721995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Visual Insights Delivered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4709" y="2877026"/>
            <a:ext cx="216575" cy="2165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44709" y="3187541"/>
            <a:ext cx="3705344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6" name="Text 2"/>
          <p:cNvSpPr/>
          <p:nvPr/>
        </p:nvSpPr>
        <p:spPr>
          <a:xfrm>
            <a:off x="6244709" y="33567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Trend Analysis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44709" y="3842861"/>
            <a:ext cx="370534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Line charts for sales and revenue trends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6628" y="2877026"/>
            <a:ext cx="216575" cy="21657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0166628" y="3187541"/>
            <a:ext cx="3705463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0" name="Text 5"/>
          <p:cNvSpPr/>
          <p:nvPr/>
        </p:nvSpPr>
        <p:spPr>
          <a:xfrm>
            <a:off x="10166628" y="335672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Heatmaps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166628" y="3842861"/>
            <a:ext cx="370546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Retention, product preference, price sensitivity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4709" y="4942284"/>
            <a:ext cx="216575" cy="21657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244709" y="5252799"/>
            <a:ext cx="7627382" cy="30480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14" name="Text 8"/>
          <p:cNvSpPr/>
          <p:nvPr/>
        </p:nvSpPr>
        <p:spPr>
          <a:xfrm>
            <a:off x="6244709" y="5421987"/>
            <a:ext cx="320123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Segment Comparison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244709" y="590811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LTV and AOV by customer segment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25587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569631" y="2537222"/>
            <a:ext cx="73024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Demonstrates practical skills in data cleaning, customer segmentation, product analytics, and insight-driven storytelling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2293501"/>
            <a:ext cx="30480" cy="1180862"/>
          </a:xfrm>
          <a:prstGeom prst="rect">
            <a:avLst/>
          </a:prstGeom>
          <a:solidFill>
            <a:srgbClr val="DA1B2E"/>
          </a:solidFill>
          <a:ln/>
        </p:spPr>
      </p:sp>
      <p:sp>
        <p:nvSpPr>
          <p:cNvPr id="6" name="Shape 3"/>
          <p:cNvSpPr/>
          <p:nvPr/>
        </p:nvSpPr>
        <p:spPr>
          <a:xfrm>
            <a:off x="6244709" y="3718084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68904" y="394227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Ideal For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68904" y="442841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analyst roles in e-commerce and retail domains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4709" y="5215890"/>
            <a:ext cx="7627382" cy="1757839"/>
          </a:xfrm>
          <a:prstGeom prst="roundRect">
            <a:avLst>
              <a:gd name="adj" fmla="val 517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8904" y="544008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Contact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68904" y="59262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Mohammad Zaid Ansari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68904" y="6402824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LinkedIn | GitHub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2025-11-07T16:39:23Z</dcterms:created>
  <dcterms:modified xsi:type="dcterms:W3CDTF">2025-11-07T16:39:23Z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2129978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